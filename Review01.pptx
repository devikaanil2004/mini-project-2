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113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14" Type="http://schemas.openxmlformats.org/officeDocument/2006/relationships/tableStyles" Target="tableStyles.xml"/>  <Relationship Id="rId15" Type="http://schemas.openxmlformats.org/officeDocument/2006/relationships/slide" Target="slides/slide9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0234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rgbClr val="1B33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98480" y="-182880"/>
            <a:ext cx="2194560" cy="2194560"/>
          </a:xfrm>
          <a:prstGeom prst="ellipse">
            <a:avLst/>
          </a:prstGeom>
          <a:ln w="19050">
            <a:solidFill>
              <a:srgbClr val="FF6B3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1B33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•  MINI PROJECT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IPL DATA ANALYTICS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performance trends across the Indian Premier League through data analytics and interactive visualization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NO. 08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800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Amritha Priya 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120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Applications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3703320"/>
            <a:ext cx="4572000" cy="2606040"/>
          </a:xfrm>
          <a:prstGeom prst="roundRect">
            <a:avLst>
              <a:gd name="adj" fmla="val 2807"/>
            </a:avLst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223760" y="3886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33488" y="4315968"/>
            <a:ext cx="329184" cy="329184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33488" y="43159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18120" y="431596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Ahana Saji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33488" y="4949081"/>
            <a:ext cx="329184" cy="329184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7333488" y="49377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18120" y="493776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T 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44156" y="5548231"/>
            <a:ext cx="329184" cy="329184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7333488" y="5559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18120" y="555955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Devika Anil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  <a:effectLst>
            <a:outerShdw blurRad="101600" dist="38100" dir="5400000" algn="bl" rotWithShape="0">
              <a:srgbClr val="1B1B1B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63093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Indian Premier League (IPL) generates a massive volume of cricketing data every season, spanning match results, player performances, team statistics, and venue-specific trends. This mini project analyzes historical IPL datasets to uncover team and player performance trends, win-loss patterns, toss impact on outcomes, run and wicket distributions, and season-wise comparisons.</a:t>
            </a: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1000"/>
              </a:spcAft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match and ball-by-ball data is cleaned and structured using Pandas and NumPy, and Exploratory Data Analysis (EDA) is applied to surface hidden patterns — the most successful teams, top run-scorers, leading wicket-takers, and the influence of venue and toss decisions. Insights are presented through interactive bar charts, line graphs, heatmaps, and pie charts, culminating in a comprehensive analytical dashboard for fans, analysts, franchises, and broadcasters.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26680" y="1417320"/>
            <a:ext cx="3913632" cy="4892040"/>
          </a:xfrm>
          <a:prstGeom prst="roundRect">
            <a:avLst>
              <a:gd name="adj" fmla="val 1869"/>
            </a:avLst>
          </a:prstGeom>
          <a:solidFill>
            <a:srgbClr val="12253F"/>
          </a:solidFill>
          <a:ln w="12700">
            <a:solidFill>
              <a:srgbClr val="C9CFD8"/>
            </a:solidFill>
            <a:prstDash val="solid"/>
          </a:ln>
          <a:effectLst>
            <a:outerShdw blurRad="101600" dist="38100" dir="5400000" algn="bl" rotWithShape="0">
              <a:srgbClr val="1B1B1B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001000" y="1645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01000" y="2057400"/>
            <a:ext cx="54864" cy="5029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183880" y="20299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83880" y="22677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/ Sports Analytics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01000" y="2770632"/>
            <a:ext cx="54864" cy="5029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183880" y="27432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83880" y="298094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ball-by-ball &amp; match datasets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01000" y="3483864"/>
            <a:ext cx="54864" cy="5029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183880" y="3456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83880" y="369417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NumPy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01000" y="4197096"/>
            <a:ext cx="54864" cy="5029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183880" y="41696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83880" y="44074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Seaborn, Plotly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01000" y="4910328"/>
            <a:ext cx="54864" cy="5029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183880" y="4882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83880" y="5120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01000" y="5623560"/>
            <a:ext cx="54864" cy="5029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183880" y="55961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83880" y="58338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analytical dashboard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vs. Proposed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  <a:effectLst>
            <a:outerShdw blurRad="101600" dist="38100" dir="5400000" algn="bl" rotWithShape="0">
              <a:srgbClr val="1B1B1B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59536" y="1618488"/>
            <a:ext cx="384048" cy="384048"/>
          </a:xfrm>
          <a:prstGeom prst="ellipse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59536" y="1618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276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267712"/>
            <a:ext cx="73152" cy="73152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51560" y="2157984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statistics are scattered across websites/broadcasts with no unified view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2651760"/>
            <a:ext cx="73152" cy="73152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51560" y="254203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is largely manual, static, and not interactive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035808"/>
            <a:ext cx="73152" cy="73152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51560" y="29260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ability to correlate factors like toss, venue and season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3419856"/>
            <a:ext cx="73152" cy="73152"/>
          </a:xfrm>
          <a:prstGeom prst="ellipse">
            <a:avLst/>
          </a:prstGeom>
          <a:solidFill>
            <a:srgbClr val="5B64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51560" y="331012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queryable structured database for historical trends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5422392" cy="2331720"/>
          </a:xfrm>
          <a:prstGeom prst="roundRect">
            <a:avLst>
              <a:gd name="adj" fmla="val 3137"/>
            </a:avLst>
          </a:prstGeom>
          <a:solidFill>
            <a:srgbClr val="12253F"/>
          </a:solidFill>
          <a:ln w="12700">
            <a:solidFill>
              <a:srgbClr val="C9CFD8"/>
            </a:solidFill>
            <a:prstDash val="solid"/>
          </a:ln>
          <a:effectLst>
            <a:outerShdw blurRad="101600" dist="38100" dir="5400000" algn="bl" rotWithShape="0">
              <a:srgbClr val="1B1B1B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528816" y="1618488"/>
            <a:ext cx="384048" cy="38404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28816" y="1618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16276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37960" y="2267712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720840" y="2157984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pipeline cleans and structures raw IPL datasets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37960" y="2651760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720840" y="254203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uncovers team, player, toss and venue-based patterns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3035808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720840" y="292608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stores structured match &amp; ball-by-ball data for querying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37960" y="3419856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720840" y="3310128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visualizes KPIs for fans and analysts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0416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3891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49808" y="457200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49808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" y="50474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Player Trends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31520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Season-wise performance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93008" y="43891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694176" y="4572000"/>
            <a:ext cx="365760" cy="365760"/>
          </a:xfrm>
          <a:prstGeom prst="ellipse">
            <a:avLst/>
          </a:prstGeom>
          <a:solidFill>
            <a:srgbClr val="0FA3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694176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675888" y="50474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Win-Loss Patterns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675888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teams &amp; venues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37376" y="43891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638544" y="457200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638544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620256" y="50474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Impact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620256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on match outcome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381744" y="43891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9582912" y="4572000"/>
            <a:ext cx="365760" cy="365760"/>
          </a:xfrm>
          <a:prstGeom prst="ellipse">
            <a:avLst/>
          </a:prstGeom>
          <a:solidFill>
            <a:srgbClr val="0FA3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9582912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564624" y="50474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Run/Wicket Split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9564624" y="5349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analysis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017520" y="1783080"/>
            <a:ext cx="7223760" cy="4160520"/>
          </a:xfrm>
          <a:prstGeom prst="roundRect">
            <a:avLst>
              <a:gd name="adj" fmla="val 1319"/>
            </a:avLst>
          </a:prstGeom>
          <a:solidFill>
            <a:srgbClr val="FBFCFD"/>
          </a:solidFill>
          <a:ln w="19050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017520" y="185623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Data Analytics System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257300" y="228600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25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417320" y="2606040"/>
            <a:ext cx="0" cy="502920"/>
          </a:xfrm>
          <a:prstGeom prst="line">
            <a:avLst/>
          </a:prstGeom>
          <a:noFill/>
          <a:ln w="25400">
            <a:solidFill>
              <a:srgbClr val="1225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124712" y="2770632"/>
            <a:ext cx="585216" cy="0"/>
          </a:xfrm>
          <a:prstGeom prst="line">
            <a:avLst/>
          </a:prstGeom>
          <a:noFill/>
          <a:ln w="25400">
            <a:solidFill>
              <a:srgbClr val="1225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417320" y="3108960"/>
            <a:ext cx="0" cy="365760"/>
          </a:xfrm>
          <a:prstGeom prst="line">
            <a:avLst/>
          </a:prstGeom>
          <a:noFill/>
          <a:ln w="25400">
            <a:solidFill>
              <a:srgbClr val="1225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417320" y="3108960"/>
            <a:ext cx="256032" cy="365760"/>
          </a:xfrm>
          <a:prstGeom prst="line">
            <a:avLst/>
          </a:prstGeom>
          <a:noFill/>
          <a:ln w="25400">
            <a:solidFill>
              <a:srgbClr val="1225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35021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/ User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57300" y="4709160"/>
            <a:ext cx="320040" cy="320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417320" y="5029200"/>
            <a:ext cx="0" cy="50292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124712" y="5193792"/>
            <a:ext cx="585216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417320" y="5532120"/>
            <a:ext cx="0" cy="36576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417320" y="5532120"/>
            <a:ext cx="256032" cy="36576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4360" y="59253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240280"/>
            <a:ext cx="1920240" cy="777240"/>
          </a:xfrm>
          <a:prstGeom prst="ellipse">
            <a:avLst/>
          </a:prstGeom>
          <a:solidFill>
            <a:srgbClr val="F5F6F8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429000" y="22402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IPL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0" y="2240280"/>
            <a:ext cx="1920240" cy="777240"/>
          </a:xfrm>
          <a:prstGeom prst="ellipse">
            <a:avLst/>
          </a:prstGeom>
          <a:solidFill>
            <a:srgbClr val="F5F6F8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715000" y="22402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Data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55280" y="2240280"/>
            <a:ext cx="1920240" cy="777240"/>
          </a:xfrm>
          <a:prstGeom prst="ellipse">
            <a:avLst/>
          </a:prstGeom>
          <a:solidFill>
            <a:srgbClr val="F5F6F8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001000" y="22402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Team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Stats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3337560"/>
            <a:ext cx="1920240" cy="777240"/>
          </a:xfrm>
          <a:prstGeom prst="ellipse">
            <a:avLst/>
          </a:prstGeom>
          <a:solidFill>
            <a:srgbClr val="F5F6F8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29000" y="33375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/ Venue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0" y="3337560"/>
            <a:ext cx="1920240" cy="777240"/>
          </a:xfrm>
          <a:prstGeom prst="ellipse">
            <a:avLst/>
          </a:prstGeom>
          <a:solidFill>
            <a:srgbClr val="F5F6F8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715000" y="33375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Toss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55280" y="3337560"/>
            <a:ext cx="1920240" cy="777240"/>
          </a:xfrm>
          <a:prstGeom prst="ellipse">
            <a:avLst/>
          </a:prstGeom>
          <a:solidFill>
            <a:srgbClr val="F5F6F8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001000" y="33375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26280" y="4434840"/>
            <a:ext cx="1920240" cy="777240"/>
          </a:xfrm>
          <a:prstGeom prst="ellipse">
            <a:avLst/>
          </a:prstGeom>
          <a:solidFill>
            <a:srgbClr val="F5F6F8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72000" y="44348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Report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12280" y="4434840"/>
            <a:ext cx="1920240" cy="777240"/>
          </a:xfrm>
          <a:prstGeom prst="ellipse">
            <a:avLst/>
          </a:prstGeom>
          <a:solidFill>
            <a:srgbClr val="F5F6F8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858000" y="44348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 flipV="1">
            <a:off x="1737360" y="2628900"/>
            <a:ext cx="1645920" cy="0"/>
          </a:xfrm>
          <a:prstGeom prst="line">
            <a:avLst/>
          </a:prstGeom>
          <a:noFill/>
          <a:ln w="15875">
            <a:solidFill>
              <a:srgbClr val="8892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 flipV="1">
            <a:off x="1737360" y="2628900"/>
            <a:ext cx="3931920" cy="0"/>
          </a:xfrm>
          <a:prstGeom prst="line">
            <a:avLst/>
          </a:prstGeom>
          <a:noFill/>
          <a:ln w="15875">
            <a:solidFill>
              <a:srgbClr val="8892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 flipV="1">
            <a:off x="1737360" y="2628900"/>
            <a:ext cx="6217920" cy="0"/>
          </a:xfrm>
          <a:prstGeom prst="line">
            <a:avLst/>
          </a:prstGeom>
          <a:noFill/>
          <a:ln w="15875">
            <a:solidFill>
              <a:srgbClr val="8892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1737360" y="3108960"/>
            <a:ext cx="1645920" cy="617220"/>
          </a:xfrm>
          <a:prstGeom prst="line">
            <a:avLst/>
          </a:prstGeom>
          <a:noFill/>
          <a:ln w="15875">
            <a:solidFill>
              <a:srgbClr val="8892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1737360" y="3108960"/>
            <a:ext cx="3931920" cy="617220"/>
          </a:xfrm>
          <a:prstGeom prst="line">
            <a:avLst/>
          </a:prstGeom>
          <a:noFill/>
          <a:ln w="15875">
            <a:solidFill>
              <a:srgbClr val="8892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737360" y="3108960"/>
            <a:ext cx="6217920" cy="617220"/>
          </a:xfrm>
          <a:prstGeom prst="line">
            <a:avLst/>
          </a:prstGeom>
          <a:noFill/>
          <a:ln w="15875">
            <a:solidFill>
              <a:srgbClr val="8892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 flipV="1">
            <a:off x="1737360" y="2628900"/>
            <a:ext cx="1645920" cy="0"/>
          </a:xfrm>
          <a:prstGeom prst="line">
            <a:avLst/>
          </a:prstGeom>
          <a:noFill/>
          <a:ln w="15875">
            <a:solidFill>
              <a:srgbClr val="8892A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 flipV="1">
            <a:off x="1737360" y="4823460"/>
            <a:ext cx="2788920" cy="0"/>
          </a:xfrm>
          <a:prstGeom prst="line">
            <a:avLst/>
          </a:prstGeom>
          <a:noFill/>
          <a:ln w="15875">
            <a:solidFill>
              <a:srgbClr val="8892A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 flipV="1">
            <a:off x="1737360" y="4823460"/>
            <a:ext cx="5074920" cy="0"/>
          </a:xfrm>
          <a:prstGeom prst="line">
            <a:avLst/>
          </a:prstGeom>
          <a:noFill/>
          <a:ln w="15875">
            <a:solidFill>
              <a:srgbClr val="8892A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10332720" y="5989320"/>
            <a:ext cx="365760" cy="0"/>
          </a:xfrm>
          <a:prstGeom prst="line">
            <a:avLst/>
          </a:prstGeom>
          <a:noFill/>
          <a:ln w="15875">
            <a:solidFill>
              <a:srgbClr val="8892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10744200" y="58704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path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332720" y="6263640"/>
            <a:ext cx="365760" cy="0"/>
          </a:xfrm>
          <a:prstGeom prst="line">
            <a:avLst/>
          </a:prstGeom>
          <a:noFill/>
          <a:ln w="15875">
            <a:solidFill>
              <a:srgbClr val="8892A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10744200" y="61447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path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331720" cy="1874520"/>
          </a:xfrm>
          <a:prstGeom prst="rect">
            <a:avLst/>
          </a:prstGeom>
          <a:solidFill>
            <a:srgbClr val="FBFCFD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331720" cy="329184"/>
          </a:xfrm>
          <a:prstGeom prst="rect">
            <a:avLst/>
          </a:prstGeom>
          <a:solidFill>
            <a:srgbClr val="12253F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057400"/>
            <a:ext cx="2148840" cy="5989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teamId: int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teamName: string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homeVenue: string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674620"/>
            <a:ext cx="2331720" cy="0"/>
          </a:xfrm>
          <a:prstGeom prst="line">
            <a:avLst/>
          </a:prstGeom>
          <a:noFill/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9808" y="2729484"/>
            <a:ext cx="2148840" cy="8092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getMatches()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getWinRate()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691640"/>
            <a:ext cx="2514600" cy="2148840"/>
          </a:xfrm>
          <a:prstGeom prst="rect">
            <a:avLst/>
          </a:prstGeom>
          <a:solidFill>
            <a:srgbClr val="FBFCFD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91840" y="1691640"/>
            <a:ext cx="2514600" cy="329184"/>
          </a:xfrm>
          <a:prstGeom prst="rect">
            <a:avLst/>
          </a:prstGeom>
          <a:solidFill>
            <a:srgbClr val="12253F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2057400"/>
            <a:ext cx="2331720" cy="12755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matchId: int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season: int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team1, team2: string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tossWinner: string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tossDecision: string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winner: string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venue: string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0" y="3351276"/>
            <a:ext cx="2514600" cy="0"/>
          </a:xfrm>
          <a:prstGeom prst="line">
            <a:avLst/>
          </a:prstGeom>
          <a:noFill/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01568" y="3406140"/>
            <a:ext cx="2331720" cy="4069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getResult()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getTossImpact()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691640"/>
            <a:ext cx="2514600" cy="2148840"/>
          </a:xfrm>
          <a:prstGeom prst="rect">
            <a:avLst/>
          </a:prstGeom>
          <a:solidFill>
            <a:srgbClr val="FBFCFD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172200" y="1691640"/>
            <a:ext cx="2514600" cy="329184"/>
          </a:xfrm>
          <a:prstGeom prst="rect">
            <a:avLst/>
          </a:prstGeom>
          <a:solidFill>
            <a:srgbClr val="12253F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72200" y="169164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81928" y="2057400"/>
            <a:ext cx="23317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playerId: int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name: string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team: string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role: string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2843784"/>
            <a:ext cx="2514600" cy="0"/>
          </a:xfrm>
          <a:prstGeom prst="line">
            <a:avLst/>
          </a:prstGeom>
          <a:noFill/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81928" y="289864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getRuns()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getWickets()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getStrikeRate()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06840" y="1691640"/>
            <a:ext cx="2560320" cy="1874520"/>
          </a:xfrm>
          <a:prstGeom prst="rect">
            <a:avLst/>
          </a:prstGeom>
          <a:solidFill>
            <a:srgbClr val="FBFCFD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006840" y="1691640"/>
            <a:ext cx="2560320" cy="329184"/>
          </a:xfrm>
          <a:prstGeom prst="rect">
            <a:avLst/>
          </a:prstGeom>
          <a:solidFill>
            <a:srgbClr val="12253F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006840" y="169164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16568" y="2057400"/>
            <a:ext cx="2377440" cy="5989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venueId: int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city: string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venueName: string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006840" y="2674620"/>
            <a:ext cx="2560320" cy="0"/>
          </a:xfrm>
          <a:prstGeom prst="line">
            <a:avLst/>
          </a:prstGeom>
          <a:noFill/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116568" y="2729484"/>
            <a:ext cx="2377440" cy="8092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getAvgScore()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920240" y="4297680"/>
            <a:ext cx="2834640" cy="1965960"/>
          </a:xfrm>
          <a:prstGeom prst="rect">
            <a:avLst/>
          </a:prstGeom>
          <a:solidFill>
            <a:srgbClr val="FBFCFD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920240" y="4297680"/>
            <a:ext cx="2834640" cy="329184"/>
          </a:xfrm>
          <a:prstGeom prst="rect">
            <a:avLst/>
          </a:prstGeom>
          <a:solidFill>
            <a:srgbClr val="12253F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920240" y="429768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029968" y="4663440"/>
            <a:ext cx="265176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matchId: int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inning: int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over, ball: int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batsman, bowler: string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runs: int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wicket: bool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920240" y="5788152"/>
            <a:ext cx="2834640" cy="0"/>
          </a:xfrm>
          <a:prstGeom prst="line">
            <a:avLst/>
          </a:prstGeom>
          <a:noFill/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029968" y="5843016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isBoundary()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12080" y="4297680"/>
            <a:ext cx="3017520" cy="1965960"/>
          </a:xfrm>
          <a:prstGeom prst="rect">
            <a:avLst/>
          </a:prstGeom>
          <a:solidFill>
            <a:srgbClr val="FBFCFD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212080" y="4308567"/>
            <a:ext cx="3017520" cy="329184"/>
          </a:xfrm>
          <a:prstGeom prst="rect">
            <a:avLst/>
          </a:prstGeom>
          <a:solidFill>
            <a:srgbClr val="12253F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212080" y="429768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AnalyticsEngine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21808" y="4663440"/>
            <a:ext cx="28346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dataset: DataFrame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212080" y="4942332"/>
            <a:ext cx="3017520" cy="0"/>
          </a:xfrm>
          <a:prstGeom prst="line">
            <a:avLst/>
          </a:prstGeom>
          <a:noFill/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321808" y="4997196"/>
            <a:ext cx="2834640" cy="1239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cleanData()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computeStats()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analyzeToss()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generateChart()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686800" y="4297680"/>
            <a:ext cx="2880360" cy="1965960"/>
          </a:xfrm>
          <a:prstGeom prst="rect">
            <a:avLst/>
          </a:prstGeom>
          <a:solidFill>
            <a:srgbClr val="FBFCFD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686800" y="4297680"/>
            <a:ext cx="2880360" cy="329184"/>
          </a:xfrm>
          <a:prstGeom prst="rect">
            <a:avLst/>
          </a:prstGeom>
          <a:solidFill>
            <a:srgbClr val="12253F"/>
          </a:solidFill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686800" y="4297680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796528" y="4663440"/>
            <a:ext cx="269748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charts: list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filters: dict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686800" y="5111496"/>
            <a:ext cx="2880360" cy="0"/>
          </a:xfrm>
          <a:prstGeom prst="line">
            <a:avLst/>
          </a:prstGeom>
          <a:noFill/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796528" y="5166360"/>
            <a:ext cx="26974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renderKPIs()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applyFilter()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exportReport()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801368" y="3566160"/>
            <a:ext cx="0" cy="73152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 flipH="1">
            <a:off x="3566160" y="3840480"/>
            <a:ext cx="0" cy="45720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 flipH="1">
            <a:off x="6949440" y="3840480"/>
            <a:ext cx="0" cy="45720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 flipH="1">
            <a:off x="10149840" y="3566160"/>
            <a:ext cx="0" cy="73152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54880" y="5280660"/>
            <a:ext cx="457200" cy="0"/>
          </a:xfrm>
          <a:prstGeom prst="line">
            <a:avLst/>
          </a:prstGeom>
          <a:noFill/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8229600" y="5280660"/>
            <a:ext cx="457200" cy="0"/>
          </a:xfrm>
          <a:prstGeom prst="line">
            <a:avLst/>
          </a:prstGeom>
          <a:noFill/>
          <a:ln w="15875">
            <a:solidFill>
              <a:srgbClr val="22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 relationships link Team, Match, Player and Delivery records; AnalyticsEngine consumes them to feed the Dashboard.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/ Table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347472"/>
          </a:xfrm>
          <a:prstGeom prst="rect">
            <a:avLst/>
          </a:prstGeom>
          <a:solidFill>
            <a:srgbClr val="1225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181051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8105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team_id : INT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2606040" cy="292608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8368" y="21031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team_name : VARCHAR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3957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2395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short_code : VARCHAR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88336"/>
            <a:ext cx="2606040" cy="292608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8368" y="268833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26883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home_venue_id : INT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419856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48640" y="3419856"/>
            <a:ext cx="2606040" cy="347472"/>
          </a:xfrm>
          <a:prstGeom prst="rect">
            <a:avLst/>
          </a:prstGeom>
          <a:solidFill>
            <a:srgbClr val="1225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5800" y="341985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37673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venue_id : INT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059936"/>
            <a:ext cx="2606040" cy="292608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58368" y="405993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" y="40599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venue_name : VARCHAR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435254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" y="435254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: VARCHAR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11880" y="1463040"/>
            <a:ext cx="2834640" cy="2761488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611880" y="1463040"/>
            <a:ext cx="2834640" cy="347472"/>
          </a:xfrm>
          <a:prstGeom prst="rect">
            <a:avLst/>
          </a:prstGeom>
          <a:solidFill>
            <a:srgbClr val="1225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749040" y="1463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721608" y="181051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069080" y="181051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match_id : INT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11880" y="2103120"/>
            <a:ext cx="2834640" cy="292608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721608" y="21031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69080" y="210312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season : INT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721608" y="23957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69080" y="239572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team1_id : INT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11880" y="2688336"/>
            <a:ext cx="2834640" cy="292608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721608" y="268833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69080" y="2688336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team2_id : INT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721608" y="298094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069080" y="298094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toss_winner_id : INT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11880" y="3273552"/>
            <a:ext cx="2834640" cy="292608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721608" y="327355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069080" y="327355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toss_decision : VARCHAR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721608" y="356616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069080" y="356616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venue_id : INT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11880" y="3858768"/>
            <a:ext cx="2834640" cy="292608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721608" y="38587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069080" y="385876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winner_id : INT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03720" y="1463040"/>
            <a:ext cx="260604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6903720" y="1463040"/>
            <a:ext cx="2606040" cy="347472"/>
          </a:xfrm>
          <a:prstGeom prst="rect">
            <a:avLst/>
          </a:prstGeom>
          <a:solidFill>
            <a:srgbClr val="1225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040880" y="14630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7013448" y="181051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60920" y="18105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player_id : INT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03720" y="2103120"/>
            <a:ext cx="2606040" cy="292608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7013448" y="21031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360920" y="21031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player_name : VARCHAR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013448" y="23957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360920" y="2395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team_id : INT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903720" y="2688336"/>
            <a:ext cx="2606040" cy="292608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7013448" y="268833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360920" y="26883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: VARCHAR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966960" y="1463040"/>
            <a:ext cx="1691640" cy="3054096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9966960" y="1463040"/>
            <a:ext cx="1691640" cy="347472"/>
          </a:xfrm>
          <a:prstGeom prst="rect">
            <a:avLst/>
          </a:prstGeom>
          <a:solidFill>
            <a:srgbClr val="1225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10104120" y="14630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</a:t>
            </a:r>
            <a:endParaRPr lang="en-US" sz="1250" dirty="0"/>
          </a:p>
        </p:txBody>
      </p:sp>
      <p:sp>
        <p:nvSpPr>
          <p:cNvPr id="66" name="Text 64"/>
          <p:cNvSpPr/>
          <p:nvPr/>
        </p:nvSpPr>
        <p:spPr>
          <a:xfrm>
            <a:off x="10076688" y="181051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424160" y="181051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delivery_id : INT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966960" y="2103120"/>
            <a:ext cx="1691640" cy="292608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10076688" y="21031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424160" y="21031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match_id : INT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0076688" y="23957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0424160" y="239572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inning : INT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9966960" y="2688336"/>
            <a:ext cx="1691640" cy="292608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10076688" y="268833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0424160" y="268833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 : INT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0076688" y="298094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424160" y="298094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 : INT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9966960" y="3273552"/>
            <a:ext cx="1691640" cy="292608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10076688" y="327355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0424160" y="32735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batsman_id : INT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10076688" y="356616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0424160" y="35661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bowler_id : INT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966960" y="3858768"/>
            <a:ext cx="1691640" cy="292608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10076688" y="38587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0424160" y="385876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 : INT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10076688" y="415137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0424160" y="41513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31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is_wicket : BOOL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154680" y="1737360"/>
            <a:ext cx="457200" cy="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 flipV="1">
            <a:off x="3154680" y="2834640"/>
            <a:ext cx="457200" cy="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6446520" y="2011680"/>
            <a:ext cx="457200" cy="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9509760" y="1737360"/>
            <a:ext cx="457200" cy="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90"/>
          <p:cNvSpPr/>
          <p:nvPr/>
        </p:nvSpPr>
        <p:spPr>
          <a:xfrm flipV="1">
            <a:off x="9738360" y="2377440"/>
            <a:ext cx="228600" cy="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91"/>
          <p:cNvSpPr/>
          <p:nvPr/>
        </p:nvSpPr>
        <p:spPr>
          <a:xfrm>
            <a:off x="548640" y="52578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2253F"/>
          </a:solidFill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822960" y="5367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822960" y="564184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MySQL schema (3NF). MATCHES and DELIVERIES form the analytical core, joined with TEAMS, PLAYERS and VENUES via foreign keys to support season, toss and venue-based aggregation queries used by the dashboard.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— Dashboard Wireframe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8638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7863840" cy="502920"/>
          </a:xfrm>
          <a:prstGeom prst="rect">
            <a:avLst/>
          </a:prstGeom>
          <a:solidFill>
            <a:srgbClr val="1225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🏏  IPL Analytics Dashboard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77640" y="1517904"/>
            <a:ext cx="1280160" cy="301752"/>
          </a:xfrm>
          <a:prstGeom prst="roundRect">
            <a:avLst>
              <a:gd name="adj" fmla="val 48485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977640" y="151790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▾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0" y="1517904"/>
            <a:ext cx="1280160" cy="301752"/>
          </a:xfrm>
          <a:prstGeom prst="roundRect">
            <a:avLst>
              <a:gd name="adj" fmla="val 48485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394960" y="151790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▾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12280" y="1517904"/>
            <a:ext cx="1280160" cy="301752"/>
          </a:xfrm>
          <a:prstGeom prst="roundRect">
            <a:avLst>
              <a:gd name="adj" fmla="val 48485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12280" y="151790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▾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103120"/>
            <a:ext cx="1771650" cy="777240"/>
          </a:xfrm>
          <a:prstGeom prst="roundRect">
            <a:avLst>
              <a:gd name="adj" fmla="val 9412"/>
            </a:avLst>
          </a:prstGeom>
          <a:solidFill>
            <a:srgbClr val="F7F8FA"/>
          </a:solidFill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1520" y="2167128"/>
            <a:ext cx="17716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1050+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2551176"/>
            <a:ext cx="177165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40330" y="2103120"/>
            <a:ext cx="1771650" cy="777240"/>
          </a:xfrm>
          <a:prstGeom prst="roundRect">
            <a:avLst>
              <a:gd name="adj" fmla="val 9412"/>
            </a:avLst>
          </a:prstGeom>
          <a:solidFill>
            <a:srgbClr val="F7F8FA"/>
          </a:solidFill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640330" y="2167128"/>
            <a:ext cx="17716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640330" y="2551176"/>
            <a:ext cx="177165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49140" y="2103120"/>
            <a:ext cx="1771650" cy="777240"/>
          </a:xfrm>
          <a:prstGeom prst="roundRect">
            <a:avLst>
              <a:gd name="adj" fmla="val 9412"/>
            </a:avLst>
          </a:prstGeom>
          <a:solidFill>
            <a:srgbClr val="F7F8FA"/>
          </a:solidFill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49140" y="2167128"/>
            <a:ext cx="17716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230+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49140" y="2551176"/>
            <a:ext cx="177165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 used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57950" y="2103120"/>
            <a:ext cx="1771650" cy="777240"/>
          </a:xfrm>
          <a:prstGeom prst="roundRect">
            <a:avLst>
              <a:gd name="adj" fmla="val 9412"/>
            </a:avLst>
          </a:prstGeom>
          <a:solidFill>
            <a:srgbClr val="F7F8FA"/>
          </a:solidFill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57950" y="2167128"/>
            <a:ext cx="17716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4500+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57950" y="2551176"/>
            <a:ext cx="177165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306324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BFCFD"/>
          </a:solidFill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68680" y="31546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Win % by Season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05840" y="4709160"/>
            <a:ext cx="384048" cy="11430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508760" y="4023360"/>
            <a:ext cx="384048" cy="1828800"/>
          </a:xfrm>
          <a:prstGeom prst="rect">
            <a:avLst/>
          </a:prstGeom>
          <a:solidFill>
            <a:srgbClr val="0FA3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011680" y="5052060"/>
            <a:ext cx="384048" cy="8001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514600" y="3680460"/>
            <a:ext cx="384048" cy="2171700"/>
          </a:xfrm>
          <a:prstGeom prst="rect">
            <a:avLst/>
          </a:prstGeom>
          <a:solidFill>
            <a:srgbClr val="0FA3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017520" y="4480560"/>
            <a:ext cx="384048" cy="13716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520440" y="4251960"/>
            <a:ext cx="384048" cy="1600200"/>
          </a:xfrm>
          <a:prstGeom prst="rect">
            <a:avLst/>
          </a:prstGeom>
          <a:solidFill>
            <a:srgbClr val="0FA3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68680" y="5852160"/>
            <a:ext cx="3291840" cy="0"/>
          </a:xfrm>
          <a:prstGeom prst="line">
            <a:avLst/>
          </a:prstGeom>
          <a:noFill/>
          <a:ln w="12700">
            <a:solidFill>
              <a:srgbClr val="8892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480560" y="3063240"/>
            <a:ext cx="1874520" cy="3108960"/>
          </a:xfrm>
          <a:prstGeom prst="roundRect">
            <a:avLst>
              <a:gd name="adj" fmla="val 3902"/>
            </a:avLst>
          </a:prstGeom>
          <a:solidFill>
            <a:srgbClr val="FBFCFD"/>
          </a:solidFill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90288" y="3154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Decision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566160"/>
            <a:ext cx="1371600" cy="1371600"/>
          </a:xfrm>
          <a:prstGeom prst="pie">
            <a:avLst>
              <a:gd name="adj1" fmla="val 0"/>
              <a:gd name="adj2" fmla="val 1410000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54880" y="3566160"/>
            <a:ext cx="1371600" cy="1371600"/>
          </a:xfrm>
          <a:prstGeom prst="pie">
            <a:avLst>
              <a:gd name="adj1" fmla="val 14100000"/>
              <a:gd name="adj2" fmla="val 21600000"/>
            </a:avLst>
          </a:prstGeom>
          <a:solidFill>
            <a:srgbClr val="0FA3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492240" y="3063240"/>
            <a:ext cx="1737360" cy="3108960"/>
          </a:xfrm>
          <a:prstGeom prst="roundRect">
            <a:avLst>
              <a:gd name="adj" fmla="val 4211"/>
            </a:avLst>
          </a:prstGeom>
          <a:solidFill>
            <a:srgbClr val="FBFCFD"/>
          </a:solidFill>
          <a:ln w="1270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601968" y="31546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Heatmap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01968" y="3520440"/>
            <a:ext cx="438912" cy="438912"/>
          </a:xfrm>
          <a:prstGeom prst="rect">
            <a:avLst/>
          </a:prstGeom>
          <a:solidFill>
            <a:srgbClr val="F4A3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086600" y="3520440"/>
            <a:ext cx="438912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571232" y="3520440"/>
            <a:ext cx="438912" cy="438912"/>
          </a:xfrm>
          <a:prstGeom prst="rect">
            <a:avLst/>
          </a:prstGeom>
          <a:solidFill>
            <a:srgbClr val="12253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601968" y="4005072"/>
            <a:ext cx="438912" cy="438912"/>
          </a:xfrm>
          <a:prstGeom prst="rect">
            <a:avLst/>
          </a:prstGeom>
          <a:solidFill>
            <a:srgbClr val="0FA3A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086600" y="4005072"/>
            <a:ext cx="438912" cy="438912"/>
          </a:xfrm>
          <a:prstGeom prst="rect">
            <a:avLst/>
          </a:prstGeom>
          <a:solidFill>
            <a:srgbClr val="F4A3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7571232" y="4005072"/>
            <a:ext cx="438912" cy="438912"/>
          </a:xfrm>
          <a:prstGeom prst="rect">
            <a:avLst/>
          </a:prstGeom>
          <a:solidFill>
            <a:srgbClr val="2240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601968" y="4489704"/>
            <a:ext cx="438912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7086600" y="4489704"/>
            <a:ext cx="438912" cy="438912"/>
          </a:xfrm>
          <a:prstGeom prst="rect">
            <a:avLst/>
          </a:prstGeom>
          <a:solidFill>
            <a:srgbClr val="0FA3A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7571232" y="4489704"/>
            <a:ext cx="438912" cy="438912"/>
          </a:xfrm>
          <a:prstGeom prst="rect">
            <a:avLst/>
          </a:prstGeom>
          <a:solidFill>
            <a:srgbClr val="12253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8686800" y="1417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741664" y="1810512"/>
            <a:ext cx="256032" cy="256032"/>
          </a:xfrm>
          <a:prstGeom prst="ellipse">
            <a:avLst/>
          </a:prstGeom>
          <a:solidFill>
            <a:srgbClr val="1225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8741664" y="1810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235440" y="175564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bar hosts global filters — season, team, venue — applied across all widgets.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741664" y="2862072"/>
            <a:ext cx="256032" cy="256032"/>
          </a:xfrm>
          <a:prstGeom prst="ellipse">
            <a:avLst/>
          </a:prstGeom>
          <a:solidFill>
            <a:srgbClr val="1225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8741664" y="28620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235440" y="280720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strip gives at-a-glance totals before drilling into charts.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741664" y="3913632"/>
            <a:ext cx="256032" cy="256032"/>
          </a:xfrm>
          <a:prstGeom prst="ellipse">
            <a:avLst/>
          </a:prstGeom>
          <a:solidFill>
            <a:srgbClr val="1225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8741664" y="3913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235440" y="385876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/ pie / heatmap widgets built with Plotly for interactivity (hover, zoom, click-filter).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741664" y="4965192"/>
            <a:ext cx="256032" cy="256032"/>
          </a:xfrm>
          <a:prstGeom prst="ellipse">
            <a:avLst/>
          </a:prstGeom>
          <a:solidFill>
            <a:srgbClr val="1225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8741664" y="49651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235440" y="491032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designed in Figma; responsive layout planned for the final dashboard build.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2294F"/>
          </a:solidFill>
          <a:ln w="12700">
            <a:solidFill>
              <a:srgbClr val="1229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0946" y="617220"/>
            <a:ext cx="0" cy="32004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00000">
            <a:off x="710946" y="617220"/>
            <a:ext cx="176022" cy="128016"/>
          </a:xfrm>
          <a:prstGeom prst="triangl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38404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2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Completion Status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25880" y="8686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— as of 27.07.2026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11201400" cy="0"/>
          </a:xfrm>
          <a:prstGeom prst="line">
            <a:avLst/>
          </a:prstGeom>
          <a:noFill/>
          <a:ln w="12700">
            <a:solidFill>
              <a:srgbClr val="D8DC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91640"/>
            <a:ext cx="2103120" cy="2103120"/>
          </a:xfrm>
          <a:prstGeom prst="ellipse">
            <a:avLst/>
          </a:prstGeom>
          <a:solidFill>
            <a:srgbClr val="12294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574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progress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2011680"/>
            <a:ext cx="6126480" cy="320040"/>
          </a:xfrm>
          <a:prstGeom prst="roundRect">
            <a:avLst>
              <a:gd name="adj" fmla="val 17143"/>
            </a:avLst>
          </a:prstGeom>
          <a:solidFill>
            <a:srgbClr val="D8DCE2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4640" y="2011680"/>
            <a:ext cx="918972" cy="320040"/>
          </a:xfrm>
          <a:prstGeom prst="roundRect">
            <a:avLst>
              <a:gd name="adj" fmla="val 17143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2514600"/>
            <a:ext cx="6126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collection, user stories, DB schema design and UI wireframes finalized; implementation phase (data preprocessing scripts and dashboard build) begins next.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977640"/>
            <a:ext cx="5440680" cy="237744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148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4348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collection (functional &amp; non-functional)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initial user stories drafted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designed (3NF, 5 tables)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wireframes sketched for 6 core screens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finalized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3977640"/>
            <a:ext cx="5440680" cy="237744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1148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/ NEXT STEPS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4348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○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acquisition &amp; cleaning pipeline (Pandas/NumPy)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○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implementation &amp; data load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○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and chart/visualization development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○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integration (Plotly) &amp; KPI wiring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○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export module and admin module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Data Analytics  |  Team 08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86800" y="652881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991</Words>
  <Application>Microsoft Office PowerPoint</Application>
  <PresentationFormat>Widescreen</PresentationFormat>
  <Paragraphs>243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ACER</cp:lastModifiedBy>
  <cp:revision>5</cp:revision>
  <dcterms:created xsi:type="dcterms:W3CDTF">2026-07-26T03:54:52Z</dcterms:created>
  <dcterms:modified xsi:type="dcterms:W3CDTF">2026-07-26T17:01:42Z</dcterms:modified>
</cp:coreProperties>
</file>